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cdIEF9B6CTvQrxfTyOuOU816/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86" name="Google Shape;86;p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89" name="Google Shape;89;p1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789708" y="666351"/>
            <a:ext cx="10558405" cy="3044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ACTUALIZACIÓN DEL MAPA DE PROCESOS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789708" y="3866064"/>
            <a:ext cx="10558405" cy="223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Dpto. Gestión de Calidad y Proyectos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s-PE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División de Procesos y 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2"/>
          <p:cNvCxnSpPr/>
          <p:nvPr/>
        </p:nvCxnSpPr>
        <p:spPr>
          <a:xfrm>
            <a:off x="1725280" y="1519488"/>
            <a:ext cx="1037303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2"/>
          <p:cNvCxnSpPr/>
          <p:nvPr/>
        </p:nvCxnSpPr>
        <p:spPr>
          <a:xfrm>
            <a:off x="1725280" y="4550919"/>
            <a:ext cx="1037303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>
            <a:off x="3703279" y="124105"/>
            <a:ext cx="2052000" cy="1264958"/>
          </a:xfrm>
          <a:prstGeom prst="homePlate">
            <a:avLst>
              <a:gd fmla="val 22726" name="adj"/>
            </a:avLst>
          </a:prstGeom>
          <a:solidFill>
            <a:srgbClr val="BF9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E01. </a:t>
            </a: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Reglas de Equidad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833837" y="124105"/>
            <a:ext cx="2052000" cy="1264958"/>
          </a:xfrm>
          <a:prstGeom prst="homePlate">
            <a:avLst>
              <a:gd fmla="val 22726" name="adj"/>
            </a:avLst>
          </a:prstGeom>
          <a:solidFill>
            <a:srgbClr val="BF9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E02. </a:t>
            </a: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Planificación y Control Comercial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7964395" y="124105"/>
            <a:ext cx="2052000" cy="1264958"/>
          </a:xfrm>
          <a:prstGeom prst="homePlate">
            <a:avLst>
              <a:gd fmla="val 22726" name="adj"/>
            </a:avLst>
          </a:prstGeom>
          <a:solidFill>
            <a:srgbClr val="BF9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E03. </a:t>
            </a: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Calidad del Servicio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437001" y="4919982"/>
            <a:ext cx="1346683" cy="1080000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SI03.</a:t>
            </a:r>
            <a:r>
              <a:rPr b="0" i="0" lang="es-PE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Desarrollo de Identidad y Relaciones Públicas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22806" y="1094494"/>
            <a:ext cx="15821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800" u="none" cap="none" strike="noStrike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ESTRATÉGICOS</a:t>
            </a:r>
            <a:endParaRPr b="1" sz="18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229756" y="2268246"/>
            <a:ext cx="146110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 CREACIÓN DE VALOR</a:t>
            </a:r>
            <a:endParaRPr b="1" sz="18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0" y="4253759"/>
            <a:ext cx="14772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 SOPORTE</a:t>
            </a:r>
            <a:endParaRPr b="1"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204460" y="4695261"/>
            <a:ext cx="6412588" cy="15294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933088" y="4919982"/>
            <a:ext cx="1312800" cy="1080000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SI02. </a:t>
            </a: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Financiera y de Tesorería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2003223" y="1693259"/>
            <a:ext cx="1191657" cy="2762785"/>
          </a:xfrm>
          <a:prstGeom prst="homePlate">
            <a:avLst>
              <a:gd fmla="val 42908" name="adj"/>
            </a:avLst>
          </a:prstGeom>
          <a:solidFill>
            <a:srgbClr val="548135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Necesidades del Cliente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 flipH="1">
            <a:off x="10611409" y="1664180"/>
            <a:ext cx="1028138" cy="2785992"/>
          </a:xfrm>
          <a:prstGeom prst="homePlate">
            <a:avLst>
              <a:gd fmla="val 38607" name="adj"/>
            </a:avLst>
          </a:prstGeom>
          <a:solidFill>
            <a:srgbClr val="548135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Satisfacción de los Clientes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7375071" y="3215193"/>
            <a:ext cx="2980234" cy="473060"/>
          </a:xfrm>
          <a:prstGeom prst="homePlate">
            <a:avLst>
              <a:gd fmla="val 1680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V05. </a:t>
            </a: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Validación y Cierre de Venta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7375072" y="2377255"/>
            <a:ext cx="2980265" cy="498952"/>
          </a:xfrm>
          <a:prstGeom prst="homePlate">
            <a:avLst>
              <a:gd fmla="val 2030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V04. </a:t>
            </a: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Transporte y Monitoreo (Tracking)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3703279" y="1700186"/>
            <a:ext cx="1320470" cy="2352042"/>
          </a:xfrm>
          <a:prstGeom prst="homePlate">
            <a:avLst>
              <a:gd fmla="val 2272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V01. </a:t>
            </a: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Pedidos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7375071" y="1668811"/>
            <a:ext cx="2980233" cy="408834"/>
          </a:xfrm>
          <a:prstGeom prst="homePlate">
            <a:avLst>
              <a:gd fmla="val 2030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V03. </a:t>
            </a: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Ejecución de Logística y Entrega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5148169" y="2054180"/>
            <a:ext cx="1543292" cy="1731090"/>
          </a:xfrm>
          <a:prstGeom prst="homePlate">
            <a:avLst>
              <a:gd fmla="val 2272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V02.</a:t>
            </a: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Asignación de Unidades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5397698" y="4947167"/>
            <a:ext cx="1399196" cy="1080000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SI01. </a:t>
            </a: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Cumplimiento y Normativa (Legal)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-158418" y="374146"/>
            <a:ext cx="13671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0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9392" y="66709"/>
            <a:ext cx="777546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TO BE</a:t>
            </a:r>
            <a:endParaRPr b="1"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-169219" y="4707919"/>
            <a:ext cx="21662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SOPORTE AL NEGOCIO</a:t>
            </a:r>
            <a:endParaRPr b="1"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86369" y="4695261"/>
            <a:ext cx="5025363" cy="15294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4902405" y="4641481"/>
            <a:ext cx="23129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SOPORTE INSTITUCIONAL</a:t>
            </a:r>
            <a:endParaRPr b="1"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214290" y="5046745"/>
            <a:ext cx="1399196" cy="1080000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SN01. </a:t>
            </a: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y Mantenimiento de la App (Móvil/Escritorio)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899452" y="5057088"/>
            <a:ext cx="1399196" cy="1080000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SN02. </a:t>
            </a: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Incidencias en Ruta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3525871" y="5029710"/>
            <a:ext cx="1399196" cy="1080000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SN03. </a:t>
            </a: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Validación de Disponibilidad y Stock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0197610" y="4919982"/>
            <a:ext cx="1346700" cy="1080000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SI04.</a:t>
            </a: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Gestión de la Infraestructura Física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04970" y="5811778"/>
            <a:ext cx="590618" cy="1626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Google Shape;135;p3"/>
          <p:cNvCxnSpPr/>
          <p:nvPr/>
        </p:nvCxnSpPr>
        <p:spPr>
          <a:xfrm>
            <a:off x="1551451" y="1174271"/>
            <a:ext cx="1030121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3"/>
          <p:cNvCxnSpPr/>
          <p:nvPr/>
        </p:nvCxnSpPr>
        <p:spPr>
          <a:xfrm>
            <a:off x="1535686" y="4205217"/>
            <a:ext cx="1037303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3"/>
          <p:cNvSpPr/>
          <p:nvPr/>
        </p:nvSpPr>
        <p:spPr>
          <a:xfrm>
            <a:off x="8059404" y="4309807"/>
            <a:ext cx="1155854" cy="584401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SI02. </a:t>
            </a:r>
            <a:r>
              <a:rPr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Financiera y de Tesorería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81664" y="763078"/>
            <a:ext cx="15821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7F6000"/>
                </a:solidFill>
                <a:latin typeface="Calibri"/>
                <a:ea typeface="Calibri"/>
                <a:cs typeface="Calibri"/>
                <a:sym typeface="Calibri"/>
              </a:rPr>
              <a:t>ESTRATÉGICOS</a:t>
            </a:r>
            <a:endParaRPr b="1" sz="1800">
              <a:solidFill>
                <a:srgbClr val="7F6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32315" y="3476196"/>
            <a:ext cx="12944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 SOPORTE</a:t>
            </a:r>
            <a:endParaRPr b="1"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603382" y="4264206"/>
            <a:ext cx="5382054" cy="208558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48229" y="4265758"/>
            <a:ext cx="6129711" cy="209315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62177" y="6101263"/>
            <a:ext cx="21662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SOPORTE AL NEGOCIO</a:t>
            </a:r>
            <a:endParaRPr b="1"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6612923" y="6116754"/>
            <a:ext cx="23129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SOPORTE INSTITUCIONAL</a:t>
            </a:r>
            <a:endParaRPr b="1"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551451" y="1477805"/>
            <a:ext cx="1060833" cy="2644214"/>
          </a:xfrm>
          <a:prstGeom prst="homePlate">
            <a:avLst>
              <a:gd fmla="val 50000" name="adj"/>
            </a:avLst>
          </a:prstGeom>
          <a:solidFill>
            <a:srgbClr val="548135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Necesidades del Cliente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 flipH="1">
            <a:off x="11001559" y="1511653"/>
            <a:ext cx="983876" cy="2610361"/>
          </a:xfrm>
          <a:prstGeom prst="homePlate">
            <a:avLst>
              <a:gd fmla="val 47964" name="adj"/>
            </a:avLst>
          </a:prstGeom>
          <a:solidFill>
            <a:srgbClr val="548135"/>
          </a:solidFill>
          <a:ln>
            <a:noFill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Satisfacción de los Clientes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6676398" y="4309807"/>
            <a:ext cx="1339689" cy="563598"/>
          </a:xfrm>
          <a:prstGeom prst="homePlate">
            <a:avLst>
              <a:gd fmla="val 20301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SI01. </a:t>
            </a:r>
            <a:r>
              <a:rPr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Cumplimiento y Normativa (Legal)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583750" y="1314312"/>
            <a:ext cx="4212000" cy="207969"/>
          </a:xfrm>
          <a:prstGeom prst="homePlate">
            <a:avLst>
              <a:gd fmla="val 1680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V04. 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Transporte y Monitoreo (Tracking)</a:t>
            </a:r>
            <a:endParaRPr b="1"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2631174" y="3144203"/>
            <a:ext cx="3746766" cy="199295"/>
          </a:xfrm>
          <a:prstGeom prst="homePlate">
            <a:avLst>
              <a:gd fmla="val 20301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V03. 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Ejecución de Logística y Entrega</a:t>
            </a:r>
            <a:endParaRPr b="1"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616033" y="2746542"/>
            <a:ext cx="4212000" cy="169386"/>
          </a:xfrm>
          <a:prstGeom prst="homePlate">
            <a:avLst>
              <a:gd fmla="val 20301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V05. 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Validación y Cierre de Venta</a:t>
            </a:r>
            <a:endParaRPr b="1"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2703884" y="1229450"/>
            <a:ext cx="1783112" cy="775714"/>
          </a:xfrm>
          <a:prstGeom prst="homePlate">
            <a:avLst>
              <a:gd fmla="val 22726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V01.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Gestión de Pedidos</a:t>
            </a:r>
            <a:endParaRPr b="1"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4680107" y="1226492"/>
            <a:ext cx="1590217" cy="774254"/>
          </a:xfrm>
          <a:prstGeom prst="homePlate">
            <a:avLst>
              <a:gd fmla="val 22726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V02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Asignación de Unidades</a:t>
            </a:r>
            <a:endParaRPr b="1"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2703884" y="64597"/>
            <a:ext cx="2520000" cy="331819"/>
          </a:xfrm>
          <a:prstGeom prst="homePlate">
            <a:avLst>
              <a:gd fmla="val 22726" name="adj"/>
            </a:avLst>
          </a:prstGeom>
          <a:solidFill>
            <a:srgbClr val="BF9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E01. 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Reglas de Equidad</a:t>
            </a:r>
            <a:endParaRPr b="1" sz="10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2703884" y="438551"/>
            <a:ext cx="2520000" cy="126000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E01.1. </a:t>
            </a: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 algoritmos de turno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2703884" y="587675"/>
            <a:ext cx="2520000" cy="126000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E01.2. </a:t>
            </a: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Establecimiento de políticas de "Posta</a:t>
            </a: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5505958" y="65503"/>
            <a:ext cx="2520000" cy="331819"/>
          </a:xfrm>
          <a:prstGeom prst="homePlate">
            <a:avLst>
              <a:gd fmla="val 22726" name="adj"/>
            </a:avLst>
          </a:prstGeom>
          <a:solidFill>
            <a:srgbClr val="BF9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E02. 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Planificación y Control Comercial</a:t>
            </a:r>
            <a:endParaRPr b="1"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5505958" y="428503"/>
            <a:ext cx="2520000" cy="126000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E02.1</a:t>
            </a: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estacionalidad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5505958" y="575960"/>
            <a:ext cx="2520000" cy="129512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E02.2. </a:t>
            </a: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Tarifas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5505958" y="735828"/>
            <a:ext cx="2520000" cy="126000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E02.3. </a:t>
            </a: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Captación de Grandes Clientes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2703884" y="736799"/>
            <a:ext cx="2520000" cy="126000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E01.3. </a:t>
            </a: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de cumplimiento</a:t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2706478" y="2033634"/>
            <a:ext cx="1780446" cy="288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V01.1.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Atención Multicanal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2706478" y="2374316"/>
            <a:ext cx="1776893" cy="288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V01.2.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Toma de Requerimientos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680107" y="2033634"/>
            <a:ext cx="1588088" cy="288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V02.1.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Cálculo de Prioridad por Stock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6612923" y="1637375"/>
            <a:ext cx="1951957" cy="238058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V04.1.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Gestión de Incidencias en Ruta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6612923" y="3024489"/>
            <a:ext cx="1988683" cy="252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V05.1.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Cobro Directo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417565" y="4836670"/>
            <a:ext cx="1574952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SN01.1. Actualizaciones de Software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417565" y="5167067"/>
            <a:ext cx="1574953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SN01.2. Soporte Técnico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680107" y="2374316"/>
            <a:ext cx="1588088" cy="288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V02.2.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Verificación de Habilitación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2612285" y="3404719"/>
            <a:ext cx="1886874" cy="199295"/>
          </a:xfrm>
          <a:prstGeom prst="homePlate">
            <a:avLst>
              <a:gd fmla="val 16807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V03.1.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Carga de Material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8735874" y="3021186"/>
            <a:ext cx="2178922" cy="252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V05.2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. Ingreso de Código de Seguridad</a:t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417565" y="4366568"/>
            <a:ext cx="1574952" cy="427705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SN01. </a:t>
            </a:r>
            <a:r>
              <a:rPr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y Mantenimiento de la App (Móvil/Escritorio)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9355801" y="4302575"/>
            <a:ext cx="1155854" cy="591634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SI03.</a:t>
            </a:r>
            <a:r>
              <a:rPr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Desarrollo de Identidad y Relaciones Públicas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-158418" y="374146"/>
            <a:ext cx="13671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1</a:t>
            </a:r>
            <a:endParaRPr/>
          </a:p>
        </p:txBody>
      </p:sp>
      <p:sp>
        <p:nvSpPr>
          <p:cNvPr id="173" name="Google Shape;173;p3"/>
          <p:cNvSpPr txBox="1"/>
          <p:nvPr/>
        </p:nvSpPr>
        <p:spPr>
          <a:xfrm>
            <a:off x="69392" y="66709"/>
            <a:ext cx="777546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TO BE</a:t>
            </a:r>
            <a:endParaRPr b="1"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680107" y="2714998"/>
            <a:ext cx="1588088" cy="288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V02.3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. Notificación y Aceptación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70732" y="2268246"/>
            <a:ext cx="146110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 CREACIÓN DE VALOR</a:t>
            </a:r>
            <a:endParaRPr b="1" sz="18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8308033" y="68085"/>
            <a:ext cx="2520000" cy="331200"/>
          </a:xfrm>
          <a:prstGeom prst="homePlate">
            <a:avLst>
              <a:gd fmla="val 22726" name="adj"/>
            </a:avLst>
          </a:prstGeom>
          <a:solidFill>
            <a:srgbClr val="BF9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E03. </a:t>
            </a:r>
            <a:r>
              <a:rPr lang="es-PE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Calidad del Servicio</a:t>
            </a:r>
            <a:endParaRPr b="1"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8308030" y="434118"/>
            <a:ext cx="2520005" cy="111819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E03.1. Análisis de retroalimentación</a:t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8308030" y="576154"/>
            <a:ext cx="2520003" cy="119646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E03.2. Evaluación de desempeño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8308030" y="720727"/>
            <a:ext cx="2520003" cy="119646"/>
          </a:xfrm>
          <a:prstGeom prst="homePlate">
            <a:avLst>
              <a:gd fmla="val 20301" name="adj"/>
            </a:avLst>
          </a:prstGeom>
          <a:solidFill>
            <a:srgbClr val="FFD96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E03.3. Planificación de actualizaciones</a:t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2703884" y="2718710"/>
            <a:ext cx="1776893" cy="288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V01.3.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Emisión del Código de Cliente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4530714" y="3404718"/>
            <a:ext cx="1886874" cy="199295"/>
          </a:xfrm>
          <a:prstGeom prst="homePlate">
            <a:avLst>
              <a:gd fmla="val 16807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V03.2.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Traslado al Punto Asignado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3593347" y="3724738"/>
            <a:ext cx="1886874" cy="199295"/>
          </a:xfrm>
          <a:prstGeom prst="homePlate">
            <a:avLst>
              <a:gd fmla="val 16807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V03.2.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Descarga de Material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8689750" y="1634868"/>
            <a:ext cx="1951957" cy="238058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V04.2.</a:t>
            </a: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Protocolo de Postas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7473983" y="1973214"/>
            <a:ext cx="1951957" cy="238058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V04.3.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Seguimiento de unidad</a:t>
            </a:r>
            <a:endParaRPr sz="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6603382" y="3415378"/>
            <a:ext cx="1998224" cy="252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V05.3.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Registro Fotográfico</a:t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8731750" y="3413188"/>
            <a:ext cx="2139664" cy="252000"/>
          </a:xfrm>
          <a:prstGeom prst="homePlate">
            <a:avLst>
              <a:gd fmla="val 20301" name="adj"/>
            </a:avLst>
          </a:prstGeom>
          <a:solidFill>
            <a:srgbClr val="D8E2F3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V05.3.</a:t>
            </a: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sz="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Actualización de Inventario</a:t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2078569" y="4373481"/>
            <a:ext cx="1574952" cy="427705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SN02. . </a:t>
            </a:r>
            <a:r>
              <a:rPr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Incidencias en Ruta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3822857" y="4373481"/>
            <a:ext cx="1574952" cy="427705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SN03. . </a:t>
            </a:r>
            <a:r>
              <a:rPr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Validación de Disponibilidad y Stock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2066795" y="4840301"/>
            <a:ext cx="1574952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SN02.1 Recepción de Reportes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2066795" y="5180967"/>
            <a:ext cx="1574952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SN02.2 Análisis de Situación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2066795" y="5523948"/>
            <a:ext cx="1574952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SN02.3 Gestión de Reasignación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3822857" y="4861726"/>
            <a:ext cx="1574952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SN03.1 Recepción de Reportes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3822857" y="5210266"/>
            <a:ext cx="1574952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SN03.1 Recepción de Reportes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6676398" y="4980670"/>
            <a:ext cx="1339451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SI01.1 Permisos y Licencias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10590630" y="4309808"/>
            <a:ext cx="1318088" cy="591634"/>
          </a:xfrm>
          <a:prstGeom prst="homePlate">
            <a:avLst>
              <a:gd fmla="val 22726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SI04.</a:t>
            </a:r>
            <a:r>
              <a:rPr lang="es-PE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Gestión de la Infraestructura Física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6676397" y="5304567"/>
            <a:ext cx="1339451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SI01.2 Reglamento Interno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8088866" y="4976100"/>
            <a:ext cx="1155854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SI02.1 Administración de Fondos Comunes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8088866" y="5311067"/>
            <a:ext cx="1155854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SI02.2 Gestión de Compras Internas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9355801" y="4965118"/>
            <a:ext cx="1155854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SI03.1 Marketing y Publicidad Local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9374641" y="5298545"/>
            <a:ext cx="1155854" cy="513403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SI03.2 Responsabilidad Social/Comunitaria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0584671" y="4985332"/>
            <a:ext cx="1318087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SI04.1 Mantenimiento de Oficina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10598922" y="5346275"/>
            <a:ext cx="1318087" cy="288000"/>
          </a:xfrm>
          <a:prstGeom prst="homePlate">
            <a:avLst>
              <a:gd fmla="val 20301" name="adj"/>
            </a:avLst>
          </a:prstGeom>
          <a:solidFill>
            <a:srgbClr val="AEABAB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SI04.2 Seguridad de equipos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04970" y="5811778"/>
            <a:ext cx="590618" cy="1626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2020-10-30T14:41:26Z</dcterms:created>
  <dc:creator>Value Hunter SAC</dc:creator>
</cp:coreProperties>
</file>